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ASSAM UNIVERSITY, SILCHAR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Triguna Sen School of Technology  |  Department of Computer Science and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7432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855"/>
                </a:solidFill>
              </a:defRPr>
            </a:pPr>
            <a:r>
              <a:t>Setquery: An Agentic Vision-Language Framework for</a:t>
            </a:r>
            <a:br/>
            <a:r>
              <a:t>Multimodal Remote Sensing Intelligence</a:t>
            </a:r>
          </a:p>
          <a:p>
            <a:pPr algn="ctr">
              <a:defRPr sz="1300" i="1">
                <a:solidFill>
                  <a:srgbClr val="006699"/>
                </a:solidFill>
              </a:defRPr>
            </a:pPr>
            <a:r>
              <a:t>Decoupled Optical, SAR, Bi-Temporal, and Cross-Modal Geophysical Analytics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108960"/>
            <a:ext cx="1188720" cy="12659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7280" y="4389120"/>
            <a:ext cx="4754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Submitted By (B.Tech 2022-2026)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80060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Rituraj Handique (Roll: 1181200339, Reg: 20230000395)</a:t>
            </a:r>
          </a:p>
          <a:p>
            <a:pPr>
              <a:defRPr sz="950"/>
            </a:pPr>
            <a:r>
              <a:t>• Kalyan Mohanti (Roll: 1181200340, Reg: 20230000417)</a:t>
            </a:r>
          </a:p>
          <a:p>
            <a:pPr>
              <a:defRPr sz="950"/>
            </a:pPr>
            <a:r>
              <a:t>• Tribikram Purkayastha (Roll: 11812000324, Reg: 20230000419)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389120"/>
            <a:ext cx="47548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526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Under the Guidance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0060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/>
            </a:pPr>
            <a:r>
              <a:t>Supervisor: Dr. Sunita Sarkar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Associate Professor, Department of Computer Science &amp; Engineering</a:t>
            </a:r>
          </a:p>
          <a:p>
            <a:pPr>
              <a:defRPr sz="900"/>
            </a:pPr>
            <a:r>
              <a:t>Head of Department: Dr. Tapodhir Acharjee (Professor &amp; HOD)</a:t>
            </a:r>
          </a:p>
          <a:p>
            <a:pPr>
              <a:defRPr sz="850">
                <a:solidFill>
                  <a:srgbClr val="006699"/>
                </a:solidFill>
              </a:defRPr>
            </a:pPr>
            <a:r>
              <a:t>Bachelor of Technology in Computer Science &amp; Engineering  |  05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Motivation: Earth Observation in the Era of VLMs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Earth Observation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02855"/>
                </a:solidFill>
              </a:rPr>
              <a:t>Data Inundation: </a:t>
            </a:r>
            <a:r>
              <a:rPr sz="950">
                <a:solidFill>
                  <a:srgbClr val="1E293B"/>
                </a:solidFill>
              </a:rPr>
              <a:t>Massive daily influx of multispectral (Sentinel-2, Cartosat) and SAR (Sentinel-1, RISAT-1A) satellite constellations.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2855"/>
                </a:solidFill>
              </a:rPr>
              <a:t>Nadir Blindness: </a:t>
            </a:r>
            <a:r>
              <a:rPr sz="950">
                <a:solidFill>
                  <a:srgbClr val="1E293B"/>
                </a:solidFill>
              </a:rPr>
              <a:t>Generic vision models (GPT-4V, LLaVA) trained on eye-level internet photos fail on overhead angles without canonical orientation.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2855"/>
                </a:solidFill>
              </a:rPr>
              <a:t>Multi-Band Incompatibility: </a:t>
            </a:r>
            <a:r>
              <a:rPr sz="950">
                <a:solidFill>
                  <a:srgbClr val="1E293B"/>
                </a:solidFill>
              </a:rPr>
              <a:t>Commercial VLMs ingest only 8-bit RGB; they fail on 16-bit uint16 GeoTIFFs, NIR/SWIR bands, and SAR microwave backscatter.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2855"/>
                </a:solidFill>
              </a:rPr>
              <a:t>Uncalibrated Hallucinations: </a:t>
            </a:r>
            <a:r>
              <a:rPr sz="950">
                <a:solidFill>
                  <a:srgbClr val="1E293B"/>
                </a:solidFill>
              </a:rPr>
              <a:t>Severe risk of fabricating runways, rivers, or structures in critical defense, disaster response, and urban planning 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The Setquery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06699"/>
                </a:solidFill>
              </a:rPr>
              <a:t>Agentic Query Routing: </a:t>
            </a:r>
            <a:r>
              <a:rPr sz="950">
                <a:solidFill>
                  <a:srgbClr val="1E293B"/>
                </a:solidFill>
              </a:rPr>
              <a:t>Autonomously parses natural language queries and modalities, constructing dynamic execution graphs without manual pipeline chaining.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6699"/>
                </a:solidFill>
              </a:rPr>
              <a:t>Decoupled Specialist Models: </a:t>
            </a:r>
            <a:r>
              <a:rPr sz="950">
                <a:solidFill>
                  <a:srgbClr val="1E293B"/>
                </a:solidFill>
              </a:rPr>
              <a:t>Dedicated backbones fine-tuned on real SAR (Sentinel1SARNet), optical multispectral, and bi-temporal change benchmarks.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6699"/>
                </a:solidFill>
              </a:rPr>
              <a:t>Deterministic Dual-Engine Fallback: </a:t>
            </a:r>
            <a:r>
              <a:rPr sz="950">
                <a:solidFill>
                  <a:srgbClr val="1E293B"/>
                </a:solidFill>
              </a:rPr>
              <a:t>Guarantees high availability by combining GPU transformer production backbones with CPU spectral indices (NDVI, NDWI, Otsu).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06699"/>
                </a:solidFill>
              </a:rPr>
              <a:t>Auditable Evidence &amp; Trust: </a:t>
            </a:r>
            <a:r>
              <a:rPr sz="950">
                <a:solidFill>
                  <a:srgbClr val="1E293B"/>
                </a:solidFill>
              </a:rPr>
              <a:t>Every answer is coupled with a calibrated confidence badge, spatial pixel evidence masks, and an auditable execution trace.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Literature Review: Systematic Taxonomy &amp;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737360"/>
                <a:gridCol w="1737360"/>
                <a:gridCol w="1828800"/>
                <a:gridCol w="195041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Core Architectural Capability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Generic VLMs (GPT-4V)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RS-VLMs (GeoChat)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Specialist Task Models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Setquery (Ours)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Multispectral Radiometry (B2-B8)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(Sentinel-2 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Calibrated SAR Radar Physics (dB)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(Sentinel-1 Net)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Optical-SAR Cloud Penetration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(AG-MFD Engine)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Phenology vs. Structural Decoupling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(HSPD Engine)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Dual-VLM Mode Collapse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(Qwen2 + Florence)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Open-Vocabulary Visual Grounding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(Grounding DINO)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Auditable Step-by-Step GeoTrace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(JSON Trace)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Deterministic CPU Heuristic Fallback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Yes (NDVI/Otsu)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Core Research Gaps Solved by Setquery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1. Modality Blindness: Replaced monolithic generic vision encoders with calibrated physics-aware specialist models.</a:t>
            </a:r>
            <a:br/>
            <a:r>
              <a:t>2. Environmental Confounding: Explicit phenological decoupling prevents seasonal greening false alarms in change detection.</a:t>
            </a:r>
            <a:br/>
            <a:r>
              <a:t>3. Hallucination Liability: Multi-engine cross-verification anchors conversational text directly to physical spectral indices.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System Architecture: End-to-End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Decoupled Architectural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1 - React 18 UI: </a:t>
            </a:r>
            <a:r>
              <a:rPr sz="800">
                <a:solidFill>
                  <a:srgbClr val="1E293B"/>
                </a:solidFill>
              </a:rPr>
              <a:t>Drag-and-drop uploader, comparison split-slider, opacity layer controls, and execution trace timeline.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2 - FastAPI Server: </a:t>
            </a:r>
            <a:r>
              <a:rPr sz="800">
                <a:solidFill>
                  <a:srgbClr val="1E293B"/>
                </a:solidFill>
              </a:rPr>
              <a:t>REST API gateway, session persistence, SQLite ORM, and async execution dispatch.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3 - Geospatial Ingestion: </a:t>
            </a:r>
            <a:r>
              <a:rPr sz="800">
                <a:solidFill>
                  <a:srgbClr val="1E293B"/>
                </a:solidFill>
              </a:rPr>
              <a:t>Rasterio/GDAL CRS parser, Cartosat uint16 contrast stretch, RISAT SAR dB calibration.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4 - Agentic Router: </a:t>
            </a:r>
            <a:r>
              <a:rPr sz="800">
                <a:solidFill>
                  <a:srgbClr val="1E293B"/>
                </a:solidFill>
              </a:rPr>
              <a:t>Dynamic query intent classifier, modality validator, and specialist task dispatcher.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5 - Dual-Engine Registry: </a:t>
            </a:r>
            <a:r>
              <a:rPr sz="800">
                <a:solidFill>
                  <a:srgbClr val="1E293B"/>
                </a:solidFill>
              </a:rPr>
              <a:t>GPU transformer production engines paired with deterministic CPU spectral fallback algorithms.</a:t>
            </a:r>
          </a:p>
          <a:p>
            <a:pPr>
              <a:spcAft>
                <a:spcPts val="400"/>
              </a:spcAft>
            </a:pPr>
            <a:r>
              <a:rPr b="1" sz="850">
                <a:solidFill>
                  <a:srgbClr val="002855"/>
                </a:solidFill>
              </a:rPr>
              <a:t>Tier 6 - Visual Evidence &amp; Guard: </a:t>
            </a:r>
            <a:r>
              <a:rPr sz="800">
                <a:solidFill>
                  <a:srgbClr val="1E293B"/>
                </a:solidFill>
              </a:rPr>
              <a:t>Composite confidence calibration and physical reality cross-audit.</a:t>
            </a:r>
          </a:p>
        </p:txBody>
      </p:sp>
      <p:pic>
        <p:nvPicPr>
          <p:cNvPr id="8" name="Picture 7" descr="fig_4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5034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Agentic Task Routing &amp; Workflow Dispatch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510735"/>
                <a:gridCol w="36576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Input Modality &amp; Cardinality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Query Keyword / Semantic Regex Pattern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Routed Specialist Workflow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Single Image (Optical)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'Describe / summarize / land cover / overview'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Scene Captioning Engine (Topography &amp; LC)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Single Image (Optical)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'Where is / locate / find / bounding box / detect'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Visual Grounding (Florence-2 / Grounding DINO)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Single Image (Optical)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'What / how many / count / is there / calculate'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Single-Image VQA (Adapted BLIP-2 / Qwen2)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Bi-Temporal Pair (T1, T2)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'What changed / detect modifications / differences'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Bi-Temporal Change Detection (BIT Siamese Net)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Bi-Temporal Pair (T1, T2)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'Why did it change? / was building added?'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Change VQA (Temporal Difference Reasoning)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Optical + SAR Pair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'Fuse SAR / radar penetration / cloud cover'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Optical-SAR Cross-Modal Fusion Engine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Any Modality /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[GPU Hardware Unavailable / Out of Memory]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Deterministic CPU Fallback (NDVI/NDWI/Otsu)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Autonomous Routing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The orchestrator extracts semantic intent tokens from user prompts while verifying spatial CRS alignment across image pairs. If a dedicated GPU is absent, tasks are automatically routed to deterministic CPU spectral indices without user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Fine-Tuned Specialists: Sentinel-1 SAR &amp; Sentinel-2 Optical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Sentinel-1 SAR Specialist (Sentinel1SARNet)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/>
            </a:pPr>
            <a:r>
              <a:t>• Ingests calibrated Sentinel-1 C-band (VV, VH) backscatter.</a:t>
            </a:r>
            <a:br/>
            <a:r>
              <a:t>• Polarimetric Attention correlates canopy volume scattering (VH) with direct reflection (VV).</a:t>
            </a:r>
            <a:br/>
            <a:r>
              <a:t>• Physical Decibel Regressor:  sigma_0_dB = 10 * log10(DN^2 + eps) - K_cal</a:t>
            </a:r>
            <a:br/>
            <a:r>
              <a:t>• Identifies calm water absorption (VV &lt; -19 dB) and dihedral double-bounce hotspots (VV &gt; -9 dB).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11480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Metric (BigEarthNet-S1 Test)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Overall Accuracy (OA)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Macro Precision /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1.0000 / 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Calibrated dB Mean Error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 0.12 dB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Sentinel-2 Optical Specialist (Sentinel2OpticalNet)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Ingests 4-band spectral cubes: Blue (B2), Green (B3), Red (B4), Near-Infrared (B8).</a:t>
            </a:r>
            <a:br/>
            <a:r>
              <a:t>• Dual-Stream Encoder: Residual spatial ConvNet + spectral signature MLP.</a:t>
            </a:r>
            <a:br/>
            <a:r>
              <a:t>• Geophysical Index Derivations:</a:t>
            </a:r>
            <a:br/>
            <a:r>
              <a:t>    NDVI = (NIR - Red) / (NIR + Red)  [Vegetation Vigor]</a:t>
            </a:r>
            <a:br/>
            <a:r>
              <a:t>    NDWI = (Green - NIR) / (Green + NIR)  [Water Inundation]</a:t>
            </a:r>
            <a:br/>
            <a:r>
              <a:t>• Color-Infrared (CIR) composite maps NIR -&gt; Red, isolating active chlorophyll.</a:t>
            </a:r>
            <a:br/>
            <a:r>
              <a:t>• Classifies canopy into Dense Healthy, Moderate, Sparse, or Non-Vegetated.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Algorithmic Engines: Cloud Penetration &amp; Phenology Decoupling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AG-MFD Cross-Modal Cloud Penetration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Challenge: Over 60% of optical satellite imagery in monsoon regions (Assam, NE India) is occluded by thick clouds.</a:t>
            </a:r>
            <a:br/>
            <a:r>
              <a:t>• Stream 1 (Optical): Dynamic Cloud Segmentation computes continuous cloud opacity mask M_c in [0, 1] and Laplacian color pyramid.</a:t>
            </a:r>
            <a:br/>
            <a:r>
              <a:t>• Stream 2 (SAR): Sentinel-1 C-band radar penetrates clouds; Adaptive Lee Filter suppresses multiplicative speckle.</a:t>
            </a:r>
            <a:br/>
            <a:r>
              <a:t>• Fusion Formulation:  I_hat = (1 - M_c) * I_opt + M_c * I_sar_norm</a:t>
            </a:r>
            <a:br/>
            <a:r>
              <a:t>• Outcome: Sub-cloud runways, roads, and flood inundation mapped without waiting for clear weather.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HSPD Bi-Temporal Change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Challenge: Traditional change detection generates high false alarms from seasonal agricultural greening and soil moisture shifts.</a:t>
            </a:r>
            <a:br/>
            <a:r>
              <a:t>• Stage 1: Relative Radiometric Normalization aligns pseudo-invariant ground features across T1 and T2.</a:t>
            </a:r>
            <a:br/>
            <a:r>
              <a:t>• Stage 2: Phenological Filter isolates delta-NDVI seasonal shifts from genuine structural modifications.</a:t>
            </a:r>
            <a:br/>
            <a:r>
              <a:t>• Stage 3: Gradient Structural Tensor S(T1, T2) = ||grad I_T2 - grad I_T1|| isolates newly erected building boundaries.</a:t>
            </a:r>
            <a:br/>
            <a:r>
              <a:t>• Outcome: Decouples true construction from agricultural plowing.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Multi-Factor Hallucination Guard &amp; Confidence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Calibrated Confidence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/>
            </a:pPr>
            <a:r>
              <a:t>• Composite Confidence Formulation:</a:t>
            </a:r>
            <a:br/>
            <a:r>
              <a:t>    C_final = 0.50 C_model + 0.35 C_evidence + 0.15 C_sensor - Penalty</a:t>
            </a:r>
            <a:br/>
            <a:r>
              <a:t>• Component Sub-scores:</a:t>
            </a:r>
            <a:br/>
            <a:r>
              <a:t>    - C_model: Softmax probability from deep backbone.</a:t>
            </a:r>
            <a:br/>
            <a:r>
              <a:t>    - C_evidence: Spatial mask density and contour coherence.</a:t>
            </a:r>
            <a:br/>
            <a:r>
              <a:t>    - C_sensor: Metadata completeness, bit-depth, and CRS validity.</a:t>
            </a:r>
            <a:br/>
            <a:r>
              <a:t>• Categorical Operational Ratings:</a:t>
            </a:r>
            <a:br/>
            <a:r>
              <a:t>    HIGH (&gt;= 0.85)  |  MEDIUM (0.70 - 0.84)</a:t>
            </a:r>
            <a:br/>
            <a:r>
              <a:t>    LOW (0.50 - 0.69)  |  UNCERTAIN (&lt; 0.50)</a:t>
            </a:r>
            <a:br/>
            <a:r>
              <a:t>• Hallucination Cross-Audit: Text claiming 'river' or 'forest' is verified against computed NDWI/NDVI rasters. Mismatches incur a 0.60x penalty.</a:t>
            </a:r>
          </a:p>
        </p:txBody>
      </p:sp>
      <p:pic>
        <p:nvPicPr>
          <p:cNvPr id="8" name="Picture 7" descr="fig_4_2_hallucination_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2576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Consolidated Benchmark Results Across Modalities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2743200"/>
                <a:gridCol w="1188720"/>
                <a:gridCol w="1127455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Task / Modality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Benchmark Dataset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Primary Metric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SAR Land-Cover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Sentinel1SARNet (Dual-Pol)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BigEarthNet-MM (S1)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SAR Polarimetry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Sentinel1SARNet Head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BigEarthNet-MM (S1)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Optical Multispectral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Sentinel2OpticalNet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BigEarthNet-S2 / EuroSAT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0.6540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Optical Geophysical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Radiometric Index Head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Sentinel-2 TOA/BOA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NDVI MAE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0.0624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Building Change Det.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BIT-CD / HSPD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LEVIR-CD (0.5m VHR)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F1 /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0.893 / 0.812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Change VQA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Siamese CDVQA Net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CDVQA Benchmark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General VQA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RSVQA-BLIP2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RSVQA-LR /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Top-1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Visual Grounding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Grounding DINO 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VRSBench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Recall@0.5 IoU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76.4%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Key Performance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2855"/>
                </a:solidFill>
              </a:defRPr>
            </a:pPr>
            <a:r>
              <a:t>Decoupled modality specialists significantly outperform generic monolithic vision-language models on domain-specific physical metrics (calibrated dB backscatter, NDVI index ranges, and structural change deltas).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Inference Latency &amp; Computational Hardware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255"/>
                <a:gridCol w="2743200"/>
                <a:gridCol w="27432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Pipeline Processing Stage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GPU (NVIDIA RTX 3050) [ms]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2855"/>
                          </a:solidFill>
                        </a:defRPr>
                      </a:pPr>
                      <a:r>
                        <a:t>CPU (Intel Core i5) [ms]</a:t>
                      </a:r>
                    </a:p>
                  </a:txBody>
                  <a:tcPr>
                    <a:solidFill>
                      <a:srgbClr val="E1EE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Rasterio Ingestion &amp; Preview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38.4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45.2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Agentic Intent Parsing &amp; Task Routing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6.2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6.8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Model Inference (VQA / Captioning)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95.0 ms (VLM Backbone)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48.0 ms (Spectral 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Model Inference (Change Detection)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182.0 ms (BIT Siamese Net)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62.0 ms (Otsu Structural Diff)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Visual Evidence Synthesis &amp; Heatmap 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34.5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41.2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Confidence Calibration &amp; Hallucination Guard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8.4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9.1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Automated ReportLab PDF Compilation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142.0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168.0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E293B"/>
                          </a:solidFill>
                        </a:defRPr>
                      </a:pPr>
                      <a:r>
                        <a:t>Total End-to-End Query Turnaround Latency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506.5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380.3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Turnaround Time &amp; Operational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2855"/>
                </a:solidFill>
              </a:defRPr>
            </a:pPr>
            <a:r>
              <a:t>Sub-second execution across both GPU workstations and quad-core CPU laptops validates operational readiness for live disaster relief deployments where cloud connectivity or high-end servers are unavailable.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User Interface &amp; Production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Frontend Architecture (React 18 + 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Interactive Split-Slider: Hardware-accelerated swipe comparison between baseline (T1) and post-event (T2) or optical vs. SAR.</a:t>
            </a:r>
            <a:br/>
            <a:r>
              <a:t>• Opacity Evidence Layer: Adjustable 0-100% overlay of building change heatmaps and NDVI vigor masks.</a:t>
            </a:r>
            <a:br/>
            <a:r>
              <a:t>• Execution Trace Timeline: Full transparency into step-by-step latency, routed task names, and calibration penalties.</a:t>
            </a:r>
            <a:br/>
            <a:r>
              <a:t>• Dual Report Export: Instant generation of formal intelligence briefings (ReportLab PDF) and print-optimized HTML.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Workflow Query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[Single Optical VQA / Captioning]:</a:t>
            </a:r>
            <a:br/>
            <a:r>
              <a:t>    Crop health, NDVI vegetation vigor, shoreline delineation.</a:t>
            </a:r>
            <a:br/>
            <a:r>
              <a:t>• [Single SAR Radar Analytics]:</a:t>
            </a:r>
            <a:br/>
            <a:r>
              <a:t>    Calibrated dB backscatter, flood inundation, vessel detection.</a:t>
            </a:r>
            <a:br/>
            <a:r>
              <a:t>• [Optical + SAR Cross-Modal Fusion]:</a:t>
            </a:r>
            <a:br/>
            <a:r>
              <a:t>    Cloud-penetrating ground truth synthesis.</a:t>
            </a:r>
            <a:br/>
            <a:r>
              <a:t>• [Bi-Temporal Change Detection]:</a:t>
            </a:r>
            <a:br/>
            <a:r>
              <a:t>    Footprint change quantification, deforestation tracking.</a:t>
            </a:r>
            <a:br/>
            <a:r>
              <a:t>• [ISRO Strategic Missions]:</a:t>
            </a:r>
            <a:br/>
            <a:r>
              <a:t>    Cartosat-2S (0.65m) and RISAT-1A C-band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99"/>
                </a:solidFill>
              </a:defRPr>
            </a:pPr>
            <a:r>
              <a:t>SETQUERY --- ASSAM UNIVERSITY</a:t>
            </a:r>
          </a:p>
          <a:p>
            <a:pPr>
              <a:defRPr sz="2000" b="1">
                <a:solidFill>
                  <a:srgbClr val="002855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418FDE"/>
          </a:solidFill>
          <a:ln>
            <a:solidFill>
              <a:srgbClr val="41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R. Handique, K. Mohanti, T. Purkayastha  |  Dept. of Computer Science &amp; Engineering, Assam University  |  05 Oct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Summary of 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1. Agentic Orchestration: Unified 6 complex remote-sensing vision-language workflows without manual tool chaining.</a:t>
            </a:r>
            <a:br/>
            <a:r>
              <a:t>2. ISRO Sensor Readiness: Native radiometric support for Cartosat uint16 dynamic stretch and RISAT-1A SAR dB calibration.</a:t>
            </a:r>
            <a:br/>
            <a:r>
              <a:t>3. Dual-Engine Fault Tolerance: Seamless automatic fallback between GPU transformers and CPU spectral indices.</a:t>
            </a:r>
            <a:br/>
            <a:r>
              <a:t>4. Auditable Trust: Coupled every textual assertion with calibrated confidence, pixel masks, and millisecond execution traces.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Future Research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/>
            </a:pPr>
            <a:r>
              <a:t>• Hyperspectral Datacube Support: Expanding ingestion to 200+ channel sensors (NASA PRISMA, ISRO HySIS).</a:t>
            </a:r>
            <a:br/>
            <a:r>
              <a:t>• Onboard Satellite Edge Inference: Quantizing specialist neural models to INT8 using TensorRT / ONNX for edge deployment.</a:t>
            </a:r>
            <a:br/>
            <a:r>
              <a:t>• 3D Stereoscopic Elevation Change: Integrating Digital Surface Models (DSM) for volumetric structural change analysis.</a:t>
            </a:r>
            <a:br/>
            <a:r>
              <a:t>• Multi-Agent Swarms: Autonomous multi-step planners for long-horizon environmental compliance monitoring.</a:t>
            </a:r>
            <a:br/>
            <a:br/>
            <a:r>
              <a:t>GitHub Repository: https://github.com/riturajhhh/SatQuery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2855"/>
                </a:solidFill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006699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377440"/>
            <a:ext cx="8534095" cy="3474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514600"/>
            <a:ext cx="8168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855"/>
                </a:solidFill>
              </a:defRPr>
            </a:pPr>
            <a:r>
              <a:t>Setquery Project Team &amp; Institutional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926080"/>
            <a:ext cx="79854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Candidates (B.Tech in Computer Science and Engineering, 2022-2026):</a:t>
            </a:r>
            <a:br/>
            <a:r>
              <a:t>• Rituraj Handique  (Roll: 1181200339, Registration: 20230000395 of 2023-2024)</a:t>
            </a:r>
            <a:br/>
            <a:r>
              <a:t>• Kalyan Mohanti   (Roll: 1181200340, Registration: 20230000417 of 2023-2024)</a:t>
            </a:r>
            <a:br/>
            <a:r>
              <a:t>• Tribikram Purkayastha  (Roll: 11812000324, Registration: 20230000419 of 2021-2024)</a:t>
            </a:r>
            <a:br/>
            <a:br/>
            <a:r>
              <a:t>Supervisor: Dr. Sunita Sarkar (Associate Professor, Dept. of CSE)</a:t>
            </a:r>
            <a:br/>
            <a:r>
              <a:t>Head of Department: Dr. Tapodhir Acharjee (Professor &amp; HOD, Dept. of CSE)</a:t>
            </a:r>
            <a:br/>
            <a:r>
              <a:t>Department of Computer Science &amp; Engineering, Triguna Sen School of Technology</a:t>
            </a:r>
            <a:br/>
            <a:r>
              <a:t>Assam University, Silchar - 788011, Assam, India</a:t>
            </a:r>
            <a:br/>
            <a:br/>
            <a:r>
              <a:t>Project Repository: https://github.com/riturajhhh/SatQuery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